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41" r:id="rId8"/>
    <p:sldId id="329" r:id="rId9"/>
    <p:sldId id="302" r:id="rId10"/>
    <p:sldId id="339" r:id="rId11"/>
    <p:sldId id="340"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07" d="100"/>
          <a:sy n="107" d="100"/>
        </p:scale>
        <p:origin x="630" y="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https://github.com/Vitry543/used-car-price-analysis/"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hyperlink" Target="https://github.com/Vitry543/used-car-price-analysis/"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[Manikanta Subbarao B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31553" y="1338255"/>
            <a:ext cx="4998720" cy="743448"/>
          </a:xfrm>
        </p:spPr>
        <p:txBody>
          <a:bodyPr>
            <a:normAutofit fontScale="90000"/>
          </a:bodyPr>
          <a:lstStyle/>
          <a:p>
            <a:pPr algn="just"/>
            <a:r>
              <a:rPr lang="en-IN" sz="3200" b="1" dirty="0"/>
              <a:t>Car Market Trend Analysis with Car Dekho Data</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472518" y="3655498"/>
            <a:ext cx="4320988" cy="307777"/>
          </a:xfrm>
          <a:prstGeom prst="rect">
            <a:avLst/>
          </a:prstGeom>
          <a:noFill/>
        </p:spPr>
        <p:txBody>
          <a:bodyPr wrap="square" rtlCol="0">
            <a:spAutoFit/>
          </a:bodyPr>
          <a:lstStyle/>
          <a:p>
            <a:r>
              <a:rPr lang="en-US" sz="1400" b="1" dirty="0"/>
              <a:t>AICTE STU ID : STU6424333ea35b91680094014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09233" y="2027956"/>
            <a:ext cx="6431280" cy="3607987"/>
          </a:xfrm>
        </p:spPr>
        <p:txBody>
          <a:bodyPr>
            <a:normAutofit/>
          </a:bodyPr>
          <a:lstStyle/>
          <a:p>
            <a:pPr algn="just">
              <a:lnSpc>
                <a:spcPct val="150000"/>
              </a:lnSpc>
            </a:pPr>
            <a:r>
              <a:rPr lang="en-IN" sz="1400" dirty="0">
                <a:solidFill>
                  <a:schemeClr val="tx1"/>
                </a:solidFill>
                <a:latin typeface="Times New Roman" panose="02020603050405020304" pitchFamily="18" charset="0"/>
                <a:cs typeface="Times New Roman" panose="02020603050405020304" pitchFamily="18" charset="0"/>
              </a:rPr>
              <a:t>Problem Statement: Pricing Asymmetry and Inefficient Valuation in the Used Car Secondary Market</a:t>
            </a:r>
          </a:p>
          <a:p>
            <a:pPr algn="just">
              <a:lnSpc>
                <a:spcPct val="150000"/>
              </a:lnSpc>
            </a:pPr>
            <a:r>
              <a:rPr lang="en-IN" sz="1400" dirty="0">
                <a:solidFill>
                  <a:schemeClr val="tx1"/>
                </a:solidFill>
                <a:latin typeface="Times New Roman" panose="02020603050405020304" pitchFamily="18" charset="0"/>
                <a:cs typeface="Times New Roman" panose="02020603050405020304" pitchFamily="18" charset="0"/>
              </a:rPr>
              <a:t>In the used car marketplace, accurately pricing pre-owned vehicles is complex due to multiple interacting variables such as depreciation over time, mileage accumulated, fuel engine type, transmission mechanism, seller channel, and previous ownership history. Inaccurate valuation leads to delayed sales, lost margins for dealers, and unfair pricing for consumers.</a:t>
            </a:r>
          </a:p>
          <a:p>
            <a:pPr algn="just">
              <a:lnSpc>
                <a:spcPct val="150000"/>
              </a:lnSpc>
            </a:pPr>
            <a:r>
              <a:rPr lang="en-IN" sz="1400" dirty="0">
                <a:solidFill>
                  <a:schemeClr val="tx1"/>
                </a:solidFill>
                <a:latin typeface="Times New Roman" panose="02020603050405020304" pitchFamily="18" charset="0"/>
                <a:cs typeface="Times New Roman" panose="02020603050405020304" pitchFamily="18" charset="0"/>
              </a:rPr>
              <a:t>This project addresses the challenge of analysing historical used car transaction data to discover pricing trends, understand key price drivers, and extract actionable insights for optimal vehicle pricing.</a:t>
            </a:r>
          </a:p>
          <a:p>
            <a:pPr algn="just">
              <a:lnSpc>
                <a:spcPct val="150000"/>
              </a:lnSpc>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39693" y="733495"/>
            <a:ext cx="6276109" cy="830997"/>
          </a:xfrm>
        </p:spPr>
        <p:txBody>
          <a:bodyPr>
            <a:noAutofit/>
          </a:bodyPr>
          <a:lstStyle/>
          <a:p>
            <a:r>
              <a:rPr lang="en-GB" sz="3200" dirty="0"/>
              <a:t>Project Description</a:t>
            </a:r>
            <a:endParaRPr lang="en-IN" sz="3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8FF3C8B-E82F-9E50-D613-C1C2EF7A6286}"/>
              </a:ext>
            </a:extLst>
          </p:cNvPr>
          <p:cNvSpPr txBox="1"/>
          <p:nvPr/>
        </p:nvSpPr>
        <p:spPr>
          <a:xfrm>
            <a:off x="395641" y="1980837"/>
            <a:ext cx="8862490" cy="3754874"/>
          </a:xfrm>
          <a:prstGeom prst="rect">
            <a:avLst/>
          </a:prstGeom>
          <a:noFill/>
        </p:spPr>
        <p:txBody>
          <a:bodyPr wrap="square">
            <a:spAutoFit/>
          </a:bodyPr>
          <a:lstStyle/>
          <a:p>
            <a:pPr algn="just">
              <a:buNone/>
            </a:pPr>
            <a:r>
              <a:rPr lang="en-IN" sz="1400" dirty="0">
                <a:effectLst/>
                <a:latin typeface="+mn-lt"/>
              </a:rPr>
              <a:t>The </a:t>
            </a:r>
            <a:r>
              <a:rPr lang="en-IN" sz="1400" b="1" dirty="0">
                <a:effectLst/>
                <a:latin typeface="+mn-lt"/>
              </a:rPr>
              <a:t>Car Dekho Used Car Data Analysis &amp; Price Prediction Project</a:t>
            </a:r>
            <a:r>
              <a:rPr lang="en-IN" sz="1400" dirty="0">
                <a:effectLst/>
                <a:latin typeface="+mn-lt"/>
              </a:rPr>
              <a:t> performs End-to-End Data Analysis (EDA) on a dataset of 301 used vehicle listings. The dataset contains structural metadata including listing price, current showroom price, total kilometres driven, fuel type (Petrol, Diesel, CNG), seller category (Dealer vs. Individual), transmission (Manual vs. Automatic), and owner history. </a:t>
            </a:r>
          </a:p>
          <a:p>
            <a:pPr algn="just">
              <a:buNone/>
            </a:pPr>
            <a:endParaRPr lang="en-IN" sz="1400" dirty="0"/>
          </a:p>
          <a:p>
            <a:pPr algn="just">
              <a:buNone/>
            </a:pPr>
            <a:endParaRPr lang="en-IN" sz="1400" dirty="0">
              <a:effectLst/>
              <a:latin typeface="+mn-lt"/>
            </a:endParaRPr>
          </a:p>
          <a:p>
            <a:pPr algn="just">
              <a:buNone/>
            </a:pPr>
            <a:r>
              <a:rPr lang="en-IN" sz="1400" b="1" dirty="0">
                <a:effectLst/>
                <a:latin typeface="+mn-lt"/>
              </a:rPr>
              <a:t>Key Phases Covered in Analysis:</a:t>
            </a:r>
          </a:p>
          <a:p>
            <a:pPr marL="342900" lvl="0" indent="-342900" algn="just">
              <a:buFont typeface="+mj-lt"/>
              <a:buAutoNum type="arabicPeriod"/>
            </a:pPr>
            <a:r>
              <a:rPr lang="en-IN" sz="1400" b="1" dirty="0">
                <a:effectLst/>
                <a:latin typeface="+mn-lt"/>
              </a:rPr>
              <a:t>Data Cleaning &amp; Exploration:</a:t>
            </a:r>
            <a:r>
              <a:rPr lang="en-IN" sz="1400" dirty="0">
                <a:effectLst/>
                <a:latin typeface="+mn-lt"/>
              </a:rPr>
              <a:t> Verification of data types, check for missing values, numerical summary statistics, and categorical distributions. </a:t>
            </a:r>
          </a:p>
          <a:p>
            <a:pPr marL="342900" lvl="0" indent="-342900" algn="just">
              <a:buFont typeface="+mj-lt"/>
              <a:buAutoNum type="arabicPeriod"/>
            </a:pPr>
            <a:r>
              <a:rPr lang="en-IN" sz="1400" b="1" dirty="0">
                <a:effectLst/>
                <a:latin typeface="+mn-lt"/>
              </a:rPr>
              <a:t>Feature Engineering:</a:t>
            </a:r>
            <a:r>
              <a:rPr lang="en-IN" sz="1400" dirty="0">
                <a:effectLst/>
                <a:latin typeface="+mn-lt"/>
              </a:rPr>
              <a:t> Calculating vehicle age based on manufacture year (Current Year - Year) and price depreciation percentage ((</a:t>
            </a:r>
            <a:r>
              <a:rPr lang="en-IN" sz="1400" dirty="0" err="1">
                <a:effectLst/>
                <a:latin typeface="+mn-lt"/>
              </a:rPr>
              <a:t>Present_Price</a:t>
            </a:r>
            <a:r>
              <a:rPr lang="en-IN" sz="1400" dirty="0">
                <a:effectLst/>
                <a:latin typeface="+mn-lt"/>
              </a:rPr>
              <a:t> - </a:t>
            </a:r>
            <a:r>
              <a:rPr lang="en-IN" sz="1400" dirty="0" err="1">
                <a:effectLst/>
                <a:latin typeface="+mn-lt"/>
              </a:rPr>
              <a:t>Selling_Price</a:t>
            </a:r>
            <a:r>
              <a:rPr lang="en-IN" sz="1400" dirty="0">
                <a:effectLst/>
                <a:latin typeface="+mn-lt"/>
              </a:rPr>
              <a:t>) / </a:t>
            </a:r>
            <a:r>
              <a:rPr lang="en-IN" sz="1400" dirty="0" err="1">
                <a:effectLst/>
                <a:latin typeface="+mn-lt"/>
              </a:rPr>
              <a:t>Present_Price</a:t>
            </a:r>
            <a:r>
              <a:rPr lang="en-IN" sz="1400" dirty="0">
                <a:effectLst/>
                <a:latin typeface="+mn-lt"/>
              </a:rPr>
              <a:t> * 100).</a:t>
            </a:r>
          </a:p>
          <a:p>
            <a:pPr marL="342900" lvl="0" indent="-342900" algn="just">
              <a:buFont typeface="+mj-lt"/>
              <a:buAutoNum type="arabicPeriod"/>
            </a:pPr>
            <a:r>
              <a:rPr lang="en-IN" sz="1400" b="1" dirty="0">
                <a:effectLst/>
                <a:latin typeface="+mn-lt"/>
              </a:rPr>
              <a:t>Univariate &amp; Bivariate Exploratory Data Analysis:</a:t>
            </a:r>
            <a:endParaRPr lang="en-IN" sz="1400" dirty="0">
              <a:effectLst/>
              <a:latin typeface="+mn-lt"/>
            </a:endParaRPr>
          </a:p>
          <a:p>
            <a:pPr marL="742950" lvl="1" indent="-285750" algn="just">
              <a:buFont typeface="+mj-lt"/>
              <a:buAutoNum type="arabicPeriod"/>
            </a:pPr>
            <a:r>
              <a:rPr lang="en-IN" sz="1400" dirty="0">
                <a:effectLst/>
                <a:latin typeface="+mn-lt"/>
              </a:rPr>
              <a:t>Distribution of selling prices vs. current showroom prices. </a:t>
            </a:r>
          </a:p>
          <a:p>
            <a:pPr marL="742950" lvl="1" indent="-285750" algn="just">
              <a:buFont typeface="+mj-lt"/>
              <a:buAutoNum type="arabicPeriod"/>
            </a:pPr>
            <a:r>
              <a:rPr lang="en-IN" sz="1400" dirty="0">
                <a:effectLst/>
                <a:latin typeface="+mn-lt"/>
              </a:rPr>
              <a:t>Correlation analysis between vehicle age, </a:t>
            </a:r>
            <a:r>
              <a:rPr lang="en-IN" sz="1400" dirty="0" err="1">
                <a:effectLst/>
                <a:latin typeface="+mn-lt"/>
              </a:rPr>
              <a:t>kilometers</a:t>
            </a:r>
            <a:r>
              <a:rPr lang="en-IN" sz="1400" dirty="0">
                <a:effectLst/>
                <a:latin typeface="+mn-lt"/>
              </a:rPr>
              <a:t> driven, and selling price. </a:t>
            </a:r>
          </a:p>
          <a:p>
            <a:pPr marL="742950" lvl="1" indent="-285750" algn="just">
              <a:buFont typeface="+mj-lt"/>
              <a:buAutoNum type="arabicPeriod"/>
            </a:pPr>
            <a:r>
              <a:rPr lang="en-IN" sz="1400" dirty="0">
                <a:effectLst/>
                <a:latin typeface="+mn-lt"/>
              </a:rPr>
              <a:t>Price impact of categorical variables (Fuel Type, Seller Type, Transmission). </a:t>
            </a:r>
          </a:p>
          <a:p>
            <a:pPr marL="342900" lvl="0" indent="-342900" algn="just">
              <a:buFont typeface="+mj-lt"/>
              <a:buAutoNum type="arabicPeriod"/>
            </a:pPr>
            <a:r>
              <a:rPr lang="en-IN" sz="1400" b="1" dirty="0">
                <a:effectLst/>
                <a:latin typeface="+mn-lt"/>
              </a:rPr>
              <a:t>Actionable Insights Generation:</a:t>
            </a:r>
            <a:r>
              <a:rPr lang="en-IN" sz="1400" dirty="0">
                <a:effectLst/>
                <a:latin typeface="+mn-lt"/>
              </a:rPr>
              <a:t> Data-driven recommendations for pricing strategy, inventory acquisition, and market positioning.</a:t>
            </a:r>
            <a:endParaRPr lang="en-IN" sz="1400" dirty="0">
              <a:effectLst/>
              <a:latin typeface="Google Sans Text"/>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448A12-C86C-67AB-1FC0-E9F5DD7485F4}"/>
              </a:ext>
            </a:extLst>
          </p:cNvPr>
          <p:cNvSpPr>
            <a:spLocks noGrp="1"/>
          </p:cNvSpPr>
          <p:nvPr>
            <p:ph type="title"/>
          </p:nvPr>
        </p:nvSpPr>
        <p:spPr>
          <a:xfrm>
            <a:off x="660400" y="805213"/>
            <a:ext cx="8895976" cy="830997"/>
          </a:xfrm>
        </p:spPr>
        <p:txBody>
          <a:bodyPr>
            <a:normAutofit/>
          </a:bodyPr>
          <a:lstStyle/>
          <a:p>
            <a:r>
              <a:rPr lang="en-IN" sz="3800" dirty="0"/>
              <a:t>Key Insights &amp; Analytical Findings</a:t>
            </a:r>
          </a:p>
        </p:txBody>
      </p:sp>
      <p:sp>
        <p:nvSpPr>
          <p:cNvPr id="6" name="TextBox 5">
            <a:extLst>
              <a:ext uri="{FF2B5EF4-FFF2-40B4-BE49-F238E27FC236}">
                <a16:creationId xmlns:a16="http://schemas.microsoft.com/office/drawing/2014/main" id="{28F302CD-25C7-4F3A-92E5-8C4952465056}"/>
              </a:ext>
            </a:extLst>
          </p:cNvPr>
          <p:cNvSpPr txBox="1"/>
          <p:nvPr/>
        </p:nvSpPr>
        <p:spPr>
          <a:xfrm>
            <a:off x="577477" y="2269047"/>
            <a:ext cx="8895976" cy="2862322"/>
          </a:xfrm>
          <a:prstGeom prst="rect">
            <a:avLst/>
          </a:prstGeom>
          <a:noFill/>
        </p:spPr>
        <p:txBody>
          <a:bodyPr wrap="square">
            <a:spAutoFit/>
          </a:bodyPr>
          <a:lstStyle/>
          <a:p>
            <a:pPr marL="342900" lvl="0" indent="-342900" algn="just">
              <a:buFont typeface="Arial" panose="020B0604020202020204" pitchFamily="34" charset="0"/>
              <a:buChar char="•"/>
            </a:pPr>
            <a:r>
              <a:rPr lang="en-IN" b="1" dirty="0"/>
              <a:t>Age vs. Value Retention:</a:t>
            </a:r>
            <a:r>
              <a:rPr lang="en-IN" dirty="0"/>
              <a:t> Vehicle age shows a strong negative correlation with selling price; cars lose significant value within the first 3 to 5 years.</a:t>
            </a:r>
          </a:p>
          <a:p>
            <a:pPr marL="342900" lvl="0" indent="-342900" algn="just">
              <a:buFont typeface="Arial" panose="020B0604020202020204" pitchFamily="34" charset="0"/>
              <a:buChar char="•"/>
            </a:pPr>
            <a:r>
              <a:rPr lang="en-IN" b="1" dirty="0"/>
              <a:t>Fuel Type Dynamics:</a:t>
            </a:r>
            <a:r>
              <a:rPr lang="en-IN" dirty="0"/>
              <a:t> Diesel vehicles command higher average selling prices and retain value better than Petrol counterparts, largely driven by commercial and long-distance demand.</a:t>
            </a:r>
          </a:p>
          <a:p>
            <a:pPr marL="342900" lvl="0" indent="-342900" algn="just">
              <a:buFont typeface="Arial" panose="020B0604020202020204" pitchFamily="34" charset="0"/>
              <a:buChar char="•"/>
            </a:pPr>
            <a:r>
              <a:rPr lang="en-IN" b="1" dirty="0"/>
              <a:t>Transmission Premium:</a:t>
            </a:r>
            <a:r>
              <a:rPr lang="en-IN" dirty="0"/>
              <a:t> Automatic vehicles hold higher resale values compared to Manual models, reflecting market demand for modern driving convenience.</a:t>
            </a:r>
          </a:p>
          <a:p>
            <a:pPr marL="342900" lvl="0" indent="-342900" algn="just">
              <a:buFont typeface="Arial" panose="020B0604020202020204" pitchFamily="34" charset="0"/>
              <a:buChar char="•"/>
            </a:pPr>
            <a:r>
              <a:rPr lang="en-IN" b="1" dirty="0"/>
              <a:t>Seller Channel Variance:</a:t>
            </a:r>
            <a:r>
              <a:rPr lang="en-IN" dirty="0"/>
              <a:t> Dealer listings reflect higher average price points compared to direct Individual seller listings, accounting for reconditioning and dealership markup.</a:t>
            </a:r>
          </a:p>
        </p:txBody>
      </p:sp>
    </p:spTree>
    <p:extLst>
      <p:ext uri="{BB962C8B-B14F-4D97-AF65-F5344CB8AC3E}">
        <p14:creationId xmlns:p14="http://schemas.microsoft.com/office/powerpoint/2010/main" val="266226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0" indent="0" algn="just">
              <a:buNone/>
            </a:pPr>
            <a:endParaRPr lang="en-IN" sz="1800" b="1" dirty="0">
              <a:solidFill>
                <a:schemeClr val="tx1"/>
              </a:solidFill>
            </a:endParaRPr>
          </a:p>
          <a:p>
            <a:pPr lvl="0" algn="just"/>
            <a:r>
              <a:rPr lang="en-IN" sz="1800" b="1" dirty="0">
                <a:solidFill>
                  <a:schemeClr val="tx1"/>
                </a:solidFill>
              </a:rPr>
              <a:t>Automotive Dealerships &amp; Resellers:</a:t>
            </a:r>
            <a:r>
              <a:rPr lang="en-IN" sz="1800" dirty="0">
                <a:solidFill>
                  <a:schemeClr val="tx1"/>
                </a:solidFill>
              </a:rPr>
              <a:t> To establish optimal buying and selling price points, maximizing turnover rate and profit margins.</a:t>
            </a:r>
          </a:p>
          <a:p>
            <a:pPr lvl="0" algn="just"/>
            <a:r>
              <a:rPr lang="en-IN" sz="1800" b="1" dirty="0">
                <a:solidFill>
                  <a:schemeClr val="tx1"/>
                </a:solidFill>
              </a:rPr>
              <a:t>Car Dekho / E-commerce Platforms:</a:t>
            </a:r>
            <a:r>
              <a:rPr lang="en-IN" sz="1800" dirty="0">
                <a:solidFill>
                  <a:schemeClr val="tx1"/>
                </a:solidFill>
              </a:rPr>
              <a:t> To power automated pricing evaluation algorithms and recommend realistic listing prices to sellers.</a:t>
            </a:r>
          </a:p>
          <a:p>
            <a:pPr lvl="0" algn="just"/>
            <a:r>
              <a:rPr lang="en-IN" sz="1800" b="1" dirty="0">
                <a:solidFill>
                  <a:schemeClr val="tx1"/>
                </a:solidFill>
              </a:rPr>
              <a:t>Individual Buyers &amp; Sellers:</a:t>
            </a:r>
            <a:r>
              <a:rPr lang="en-IN" sz="1800" dirty="0">
                <a:solidFill>
                  <a:schemeClr val="tx1"/>
                </a:solidFill>
              </a:rPr>
              <a:t> To evaluate fair market value when negotiating used car purchases or listings.</a:t>
            </a:r>
          </a:p>
          <a:p>
            <a:pPr lvl="0" algn="just"/>
            <a:r>
              <a:rPr lang="en-IN" sz="1800" b="1" dirty="0">
                <a:solidFill>
                  <a:schemeClr val="tx1"/>
                </a:solidFill>
              </a:rPr>
              <a:t>Financial Analysts &amp; Insurance Providers:</a:t>
            </a:r>
            <a:r>
              <a:rPr lang="en-IN" sz="1800" dirty="0">
                <a:solidFill>
                  <a:schemeClr val="tx1"/>
                </a:solidFill>
              </a:rPr>
              <a:t> To determine vehicle depreciation curves and collateral values for auto loans and insurance claims.</a:t>
            </a:r>
          </a:p>
          <a:p>
            <a:pPr algn="just">
              <a:lnSpc>
                <a:spcPct val="150000"/>
              </a:lnSpc>
            </a:pPr>
            <a:endParaRPr lang="en-IN" sz="1800" dirty="0">
              <a:solidFill>
                <a:schemeClr val="tx1"/>
              </a:solidFill>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solidFill>
                  <a:schemeClr val="tx1"/>
                </a:solidFill>
              </a:rPr>
              <a:t>Programming Language:</a:t>
            </a:r>
            <a:r>
              <a:rPr lang="en-IN" dirty="0">
                <a:solidFill>
                  <a:schemeClr val="tx1"/>
                </a:solidFill>
              </a:rPr>
              <a:t> Python 3.x</a:t>
            </a:r>
          </a:p>
          <a:p>
            <a:pPr lvl="0"/>
            <a:r>
              <a:rPr lang="en-IN" b="1" dirty="0">
                <a:solidFill>
                  <a:schemeClr val="tx1"/>
                </a:solidFill>
              </a:rPr>
              <a:t>Data Manipulation &amp; Processing:</a:t>
            </a:r>
            <a:r>
              <a:rPr lang="en-IN" dirty="0">
                <a:solidFill>
                  <a:schemeClr val="tx1"/>
                </a:solidFill>
              </a:rPr>
              <a:t> Pandas, NumPy</a:t>
            </a:r>
          </a:p>
          <a:p>
            <a:pPr lvl="0"/>
            <a:r>
              <a:rPr lang="en-IN" b="1" dirty="0">
                <a:solidFill>
                  <a:schemeClr val="tx1"/>
                </a:solidFill>
              </a:rPr>
              <a:t>Data Visualization:</a:t>
            </a:r>
            <a:r>
              <a:rPr lang="en-IN" dirty="0">
                <a:solidFill>
                  <a:schemeClr val="tx1"/>
                </a:solidFill>
              </a:rPr>
              <a:t> Matplotlib, Seaborn</a:t>
            </a:r>
          </a:p>
          <a:p>
            <a:pPr lvl="0"/>
            <a:r>
              <a:rPr lang="en-IN" b="1" dirty="0">
                <a:solidFill>
                  <a:schemeClr val="tx1"/>
                </a:solidFill>
              </a:rPr>
              <a:t>Development Environment:</a:t>
            </a:r>
            <a:r>
              <a:rPr lang="en-IN" dirty="0">
                <a:solidFill>
                  <a:schemeClr val="tx1"/>
                </a:solidFill>
              </a:rPr>
              <a:t> Jupyter Notebook / Visual Studio Code</a:t>
            </a:r>
          </a:p>
          <a:p>
            <a:pPr lvl="1">
              <a:lnSpc>
                <a:spcPct val="150000"/>
              </a:lnSpc>
            </a:pPr>
            <a:endParaRPr lang="en-IN" dirty="0">
              <a:solidFill>
                <a:schemeClr val="tx1"/>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20" name="Picture 19">
            <a:extLst>
              <a:ext uri="{FF2B5EF4-FFF2-40B4-BE49-F238E27FC236}">
                <a16:creationId xmlns:a16="http://schemas.microsoft.com/office/drawing/2014/main" id="{2557C339-2C4B-C3EF-EF56-5F41BDB43AC1}"/>
              </a:ext>
            </a:extLst>
          </p:cNvPr>
          <p:cNvPicPr>
            <a:picLocks noChangeAspect="1"/>
          </p:cNvPicPr>
          <p:nvPr/>
        </p:nvPicPr>
        <p:blipFill>
          <a:blip r:embed="rId3"/>
          <a:stretch>
            <a:fillRect/>
          </a:stretch>
        </p:blipFill>
        <p:spPr>
          <a:xfrm>
            <a:off x="5362276" y="1275371"/>
            <a:ext cx="4958758" cy="3072411"/>
          </a:xfrm>
          <a:prstGeom prst="rect">
            <a:avLst/>
          </a:prstGeom>
        </p:spPr>
      </p:pic>
      <p:pic>
        <p:nvPicPr>
          <p:cNvPr id="24" name="Picture 23">
            <a:extLst>
              <a:ext uri="{FF2B5EF4-FFF2-40B4-BE49-F238E27FC236}">
                <a16:creationId xmlns:a16="http://schemas.microsoft.com/office/drawing/2014/main" id="{B5D25C71-DA2E-3CD5-A2F1-FFDFAB6E0AC7}"/>
              </a:ext>
            </a:extLst>
          </p:cNvPr>
          <p:cNvPicPr>
            <a:picLocks noChangeAspect="1"/>
          </p:cNvPicPr>
          <p:nvPr/>
        </p:nvPicPr>
        <p:blipFill>
          <a:blip r:embed="rId4"/>
          <a:srcRect l="6290" t="8564" b="6887"/>
          <a:stretch>
            <a:fillRect/>
          </a:stretch>
        </p:blipFill>
        <p:spPr>
          <a:xfrm>
            <a:off x="253525" y="1510371"/>
            <a:ext cx="4615776" cy="2718774"/>
          </a:xfrm>
          <a:prstGeom prst="rect">
            <a:avLst/>
          </a:prstGeom>
        </p:spPr>
      </p:pic>
      <p:sp>
        <p:nvSpPr>
          <p:cNvPr id="27" name="TextBox 26">
            <a:extLst>
              <a:ext uri="{FF2B5EF4-FFF2-40B4-BE49-F238E27FC236}">
                <a16:creationId xmlns:a16="http://schemas.microsoft.com/office/drawing/2014/main" id="{FB56DFC0-B719-BD65-59FB-46C7CB7B40C3}"/>
              </a:ext>
            </a:extLst>
          </p:cNvPr>
          <p:cNvSpPr txBox="1"/>
          <p:nvPr/>
        </p:nvSpPr>
        <p:spPr>
          <a:xfrm>
            <a:off x="467359" y="6131759"/>
            <a:ext cx="5818259" cy="369332"/>
          </a:xfrm>
          <a:prstGeom prst="rect">
            <a:avLst/>
          </a:prstGeom>
          <a:noFill/>
        </p:spPr>
        <p:txBody>
          <a:bodyPr wrap="none" rtlCol="0">
            <a:spAutoFit/>
          </a:bodyPr>
          <a:lstStyle/>
          <a:p>
            <a:r>
              <a:rPr lang="en-IN" dirty="0">
                <a:hlinkClick r:id="rId5"/>
              </a:rPr>
              <a:t>https://github.com/Vitry543/used-car-price-analysis/</a:t>
            </a:r>
            <a:endParaRPr lang="en-IN" dirty="0"/>
          </a:p>
        </p:txBody>
      </p:sp>
      <p:sp>
        <p:nvSpPr>
          <p:cNvPr id="29" name="TextBox 28">
            <a:extLst>
              <a:ext uri="{FF2B5EF4-FFF2-40B4-BE49-F238E27FC236}">
                <a16:creationId xmlns:a16="http://schemas.microsoft.com/office/drawing/2014/main" id="{3D0BACEC-43B2-C15C-10D0-0735AEDC4BEB}"/>
              </a:ext>
            </a:extLst>
          </p:cNvPr>
          <p:cNvSpPr txBox="1"/>
          <p:nvPr/>
        </p:nvSpPr>
        <p:spPr>
          <a:xfrm>
            <a:off x="467359" y="4539208"/>
            <a:ext cx="8174617" cy="1384995"/>
          </a:xfrm>
          <a:prstGeom prst="rect">
            <a:avLst/>
          </a:prstGeom>
          <a:noFill/>
        </p:spPr>
        <p:txBody>
          <a:bodyPr wrap="square">
            <a:spAutoFit/>
          </a:bodyPr>
          <a:lstStyle/>
          <a:p>
            <a:pPr marL="342900" lvl="0" indent="-342900" algn="just">
              <a:buFont typeface="Arial" panose="020B0604020202020204" pitchFamily="34" charset="0"/>
              <a:buChar char="•"/>
            </a:pPr>
            <a:r>
              <a:rPr lang="en-IN" sz="1400" b="1" dirty="0">
                <a:effectLst/>
                <a:latin typeface="Times New Roman" panose="02020603050405020304" pitchFamily="18" charset="0"/>
                <a:cs typeface="Times New Roman" panose="02020603050405020304" pitchFamily="18" charset="0"/>
              </a:rPr>
              <a:t>3x Value Premium for Diesel:</a:t>
            </a:r>
            <a:r>
              <a:rPr lang="en-IN" sz="1400" dirty="0">
                <a:effectLst/>
                <a:latin typeface="Times New Roman" panose="02020603050405020304" pitchFamily="18" charset="0"/>
                <a:cs typeface="Times New Roman" panose="02020603050405020304" pitchFamily="18" charset="0"/>
              </a:rPr>
              <a:t> Diesel vehicles command a significantly higher average selling price (</a:t>
            </a:r>
            <a:r>
              <a:rPr lang="en-IN" sz="1400" b="1" dirty="0">
                <a:effectLst/>
                <a:latin typeface="Times New Roman" panose="02020603050405020304" pitchFamily="18" charset="0"/>
                <a:cs typeface="Times New Roman" panose="02020603050405020304" pitchFamily="18" charset="0"/>
              </a:rPr>
              <a:t>₹10.28 Lakhs</a:t>
            </a:r>
            <a:r>
              <a:rPr lang="en-IN" sz="1400" dirty="0">
                <a:effectLst/>
                <a:latin typeface="Times New Roman" panose="02020603050405020304" pitchFamily="18" charset="0"/>
                <a:cs typeface="Times New Roman" panose="02020603050405020304" pitchFamily="18" charset="0"/>
              </a:rPr>
              <a:t>) compared to Petrol (</a:t>
            </a:r>
            <a:r>
              <a:rPr lang="en-IN" sz="1400" b="1" dirty="0">
                <a:effectLst/>
                <a:latin typeface="Times New Roman" panose="02020603050405020304" pitchFamily="18" charset="0"/>
                <a:cs typeface="Times New Roman" panose="02020603050405020304" pitchFamily="18" charset="0"/>
              </a:rPr>
              <a:t>₹3.26 Lakhs</a:t>
            </a:r>
            <a:r>
              <a:rPr lang="en-IN" sz="1400" dirty="0">
                <a:effectLst/>
                <a:latin typeface="Times New Roman" panose="02020603050405020304" pitchFamily="18" charset="0"/>
                <a:cs typeface="Times New Roman" panose="02020603050405020304" pitchFamily="18" charset="0"/>
              </a:rPr>
              <a:t>) and CNG (</a:t>
            </a:r>
            <a:r>
              <a:rPr lang="en-IN" sz="1400" b="1" dirty="0">
                <a:effectLst/>
                <a:latin typeface="Times New Roman" panose="02020603050405020304" pitchFamily="18" charset="0"/>
                <a:cs typeface="Times New Roman" panose="02020603050405020304" pitchFamily="18" charset="0"/>
              </a:rPr>
              <a:t>₹3.10 Lakhs</a:t>
            </a:r>
            <a:r>
              <a:rPr lang="en-IN" sz="1400" dirty="0">
                <a:effectLst/>
                <a:latin typeface="Times New Roman" panose="02020603050405020304" pitchFamily="18" charset="0"/>
                <a:cs typeface="Times New Roman" panose="02020603050405020304" pitchFamily="18" charset="0"/>
              </a:rPr>
              <a:t>) due to stronger long-distance demand and higher initial vehicle acquisition cost. </a:t>
            </a:r>
          </a:p>
          <a:p>
            <a:pPr marL="342900" lvl="0" indent="-342900" algn="just">
              <a:buFont typeface="Arial" panose="020B0604020202020204" pitchFamily="34" charset="0"/>
              <a:buChar char="•"/>
            </a:pPr>
            <a:r>
              <a:rPr lang="en-IN" sz="1400" b="1" dirty="0">
                <a:effectLst/>
                <a:latin typeface="Times New Roman" panose="02020603050405020304" pitchFamily="18" charset="0"/>
                <a:cs typeface="Times New Roman" panose="02020603050405020304" pitchFamily="18" charset="0"/>
              </a:rPr>
              <a:t>Market Volume Disparity:</a:t>
            </a:r>
            <a:r>
              <a:rPr lang="en-IN" sz="1400" dirty="0">
                <a:effectLst/>
                <a:latin typeface="Times New Roman" panose="02020603050405020304" pitchFamily="18" charset="0"/>
                <a:cs typeface="Times New Roman" panose="02020603050405020304" pitchFamily="18" charset="0"/>
              </a:rPr>
              <a:t> Petrol cars account for the majority of market listings (</a:t>
            </a:r>
            <a:r>
              <a:rPr lang="en-IN" sz="1400" b="1" dirty="0">
                <a:effectLst/>
                <a:latin typeface="Times New Roman" panose="02020603050405020304" pitchFamily="18" charset="0"/>
                <a:cs typeface="Times New Roman" panose="02020603050405020304" pitchFamily="18" charset="0"/>
              </a:rPr>
              <a:t>239 out of 301 cars</a:t>
            </a:r>
            <a:r>
              <a:rPr lang="en-IN" sz="1400" dirty="0">
                <a:effectLst/>
                <a:latin typeface="Times New Roman" panose="02020603050405020304" pitchFamily="18" charset="0"/>
                <a:cs typeface="Times New Roman" panose="02020603050405020304" pitchFamily="18" charset="0"/>
              </a:rPr>
              <a:t>), making them the primary choice for budget-conscious urban buyers, whereas Diesel listings retain premium resale value over time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A01389D-E9B4-59A7-52A1-BCF97D6BC506}"/>
              </a:ext>
            </a:extLst>
          </p:cNvPr>
          <p:cNvPicPr>
            <a:picLocks noChangeAspect="1"/>
          </p:cNvPicPr>
          <p:nvPr/>
        </p:nvPicPr>
        <p:blipFill>
          <a:blip r:embed="rId3"/>
          <a:stretch>
            <a:fillRect/>
          </a:stretch>
        </p:blipFill>
        <p:spPr>
          <a:xfrm>
            <a:off x="170329" y="1387705"/>
            <a:ext cx="5082988" cy="2556941"/>
          </a:xfrm>
          <a:prstGeom prst="rect">
            <a:avLst/>
          </a:prstGeom>
        </p:spPr>
      </p:pic>
      <p:pic>
        <p:nvPicPr>
          <p:cNvPr id="12" name="Picture 11">
            <a:extLst>
              <a:ext uri="{FF2B5EF4-FFF2-40B4-BE49-F238E27FC236}">
                <a16:creationId xmlns:a16="http://schemas.microsoft.com/office/drawing/2014/main" id="{9AA7153A-D45B-6191-1D4C-7945CD72C8C2}"/>
              </a:ext>
            </a:extLst>
          </p:cNvPr>
          <p:cNvPicPr>
            <a:picLocks noChangeAspect="1"/>
          </p:cNvPicPr>
          <p:nvPr/>
        </p:nvPicPr>
        <p:blipFill>
          <a:blip r:embed="rId4"/>
          <a:stretch>
            <a:fillRect/>
          </a:stretch>
        </p:blipFill>
        <p:spPr>
          <a:xfrm>
            <a:off x="5403970" y="941137"/>
            <a:ext cx="5437654" cy="3219084"/>
          </a:xfrm>
          <a:prstGeom prst="rect">
            <a:avLst/>
          </a:prstGeom>
        </p:spPr>
      </p:pic>
      <p:sp>
        <p:nvSpPr>
          <p:cNvPr id="15" name="TextBox 14">
            <a:extLst>
              <a:ext uri="{FF2B5EF4-FFF2-40B4-BE49-F238E27FC236}">
                <a16:creationId xmlns:a16="http://schemas.microsoft.com/office/drawing/2014/main" id="{398122BF-C8DB-6D6E-8A4C-2421A035B00B}"/>
              </a:ext>
            </a:extLst>
          </p:cNvPr>
          <p:cNvSpPr txBox="1"/>
          <p:nvPr/>
        </p:nvSpPr>
        <p:spPr>
          <a:xfrm>
            <a:off x="467359" y="6131759"/>
            <a:ext cx="5818259" cy="369332"/>
          </a:xfrm>
          <a:prstGeom prst="rect">
            <a:avLst/>
          </a:prstGeom>
          <a:noFill/>
        </p:spPr>
        <p:txBody>
          <a:bodyPr wrap="none" rtlCol="0">
            <a:spAutoFit/>
          </a:bodyPr>
          <a:lstStyle/>
          <a:p>
            <a:r>
              <a:rPr lang="en-IN" dirty="0">
                <a:hlinkClick r:id="rId5"/>
              </a:rPr>
              <a:t>https://github.com/Vitry543/used-car-price-analysis/</a:t>
            </a:r>
            <a:endParaRPr lang="en-IN" dirty="0"/>
          </a:p>
        </p:txBody>
      </p:sp>
      <p:sp>
        <p:nvSpPr>
          <p:cNvPr id="17" name="TextBox 16">
            <a:extLst>
              <a:ext uri="{FF2B5EF4-FFF2-40B4-BE49-F238E27FC236}">
                <a16:creationId xmlns:a16="http://schemas.microsoft.com/office/drawing/2014/main" id="{EFEB22EF-7EA7-DD10-ADF2-D413B33A37C1}"/>
              </a:ext>
            </a:extLst>
          </p:cNvPr>
          <p:cNvSpPr txBox="1"/>
          <p:nvPr/>
        </p:nvSpPr>
        <p:spPr>
          <a:xfrm>
            <a:off x="467359" y="4460216"/>
            <a:ext cx="8012206" cy="1384995"/>
          </a:xfrm>
          <a:prstGeom prst="rect">
            <a:avLst/>
          </a:prstGeom>
          <a:noFill/>
        </p:spPr>
        <p:txBody>
          <a:bodyPr wrap="square">
            <a:spAutoFit/>
          </a:bodyPr>
          <a:lstStyle/>
          <a:p>
            <a:pPr marL="342900" lvl="0" indent="-342900">
              <a:buFont typeface="Arial" panose="020B0604020202020204" pitchFamily="34" charset="0"/>
              <a:buChar char="•"/>
            </a:pPr>
            <a:r>
              <a:rPr lang="en-IN" sz="1400" b="1" dirty="0">
                <a:effectLst/>
                <a:latin typeface="Times New Roman" panose="02020603050405020304" pitchFamily="18" charset="0"/>
                <a:cs typeface="Times New Roman" panose="02020603050405020304" pitchFamily="18" charset="0"/>
              </a:rPr>
              <a:t>7.7x Price Difference Across Channels:</a:t>
            </a:r>
            <a:r>
              <a:rPr lang="en-IN" sz="1400" dirty="0">
                <a:effectLst/>
                <a:latin typeface="Times New Roman" panose="02020603050405020304" pitchFamily="18" charset="0"/>
                <a:cs typeface="Times New Roman" panose="02020603050405020304" pitchFamily="18" charset="0"/>
              </a:rPr>
              <a:t> Dealer listings average a much higher selling price (</a:t>
            </a:r>
            <a:r>
              <a:rPr lang="en-IN" sz="1400" b="1" dirty="0">
                <a:effectLst/>
                <a:latin typeface="Times New Roman" panose="02020603050405020304" pitchFamily="18" charset="0"/>
                <a:cs typeface="Times New Roman" panose="02020603050405020304" pitchFamily="18" charset="0"/>
              </a:rPr>
              <a:t>₹6.72 Lakhs</a:t>
            </a:r>
            <a:r>
              <a:rPr lang="en-IN" sz="1400" dirty="0">
                <a:effectLst/>
                <a:latin typeface="Times New Roman" panose="02020603050405020304" pitchFamily="18" charset="0"/>
                <a:cs typeface="Times New Roman" panose="02020603050405020304" pitchFamily="18" charset="0"/>
              </a:rPr>
              <a:t>) than Individual listings (</a:t>
            </a:r>
            <a:r>
              <a:rPr lang="en-IN" sz="1400" b="1" dirty="0">
                <a:effectLst/>
                <a:latin typeface="Times New Roman" panose="02020603050405020304" pitchFamily="18" charset="0"/>
                <a:cs typeface="Times New Roman" panose="02020603050405020304" pitchFamily="18" charset="0"/>
              </a:rPr>
              <a:t>₹0.87 Lakhs</a:t>
            </a:r>
            <a:r>
              <a:rPr lang="en-IN" sz="1400" dirty="0">
                <a:effectLst/>
                <a:latin typeface="Times New Roman" panose="02020603050405020304" pitchFamily="18" charset="0"/>
                <a:cs typeface="Times New Roman" panose="02020603050405020304" pitchFamily="18" charset="0"/>
              </a:rPr>
              <a:t>), reflecting dealers' focus on higher-segment pre-owned vehicles. </a:t>
            </a:r>
          </a:p>
          <a:p>
            <a:pPr marL="342900" lvl="0" indent="-342900">
              <a:buFont typeface="Arial" panose="020B0604020202020204" pitchFamily="34" charset="0"/>
              <a:buChar char="•"/>
            </a:pPr>
            <a:r>
              <a:rPr lang="en-IN" sz="1400" b="1" dirty="0">
                <a:effectLst/>
                <a:latin typeface="Times New Roman" panose="02020603050405020304" pitchFamily="18" charset="0"/>
                <a:cs typeface="Times New Roman" panose="02020603050405020304" pitchFamily="18" charset="0"/>
              </a:rPr>
              <a:t>Markup &amp; Condition Advantage:</a:t>
            </a:r>
            <a:r>
              <a:rPr lang="en-IN" sz="1400" dirty="0">
                <a:effectLst/>
                <a:latin typeface="Times New Roman" panose="02020603050405020304" pitchFamily="18" charset="0"/>
                <a:cs typeface="Times New Roman" panose="02020603050405020304" pitchFamily="18" charset="0"/>
              </a:rPr>
              <a:t> The higher dealer valuation stems from vehicle reconditioning, multi-point inspection warranties, and built-in commercial profit margins, whereas individual listings consist of direct, un-refurbished consumer sales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4" name="Picture 3">
            <a:extLst>
              <a:ext uri="{FF2B5EF4-FFF2-40B4-BE49-F238E27FC236}">
                <a16:creationId xmlns:a16="http://schemas.microsoft.com/office/drawing/2014/main" id="{69634107-4EF4-DE6C-238B-6AF36E41661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862</TotalTime>
  <Words>729</Words>
  <Application>Microsoft Office PowerPoint</Application>
  <PresentationFormat>Widescreen</PresentationFormat>
  <Paragraphs>47</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Google Sans Text</vt:lpstr>
      <vt:lpstr>Times New Roman</vt:lpstr>
      <vt:lpstr>Trebuchet MS</vt:lpstr>
      <vt:lpstr>Wingdings</vt:lpstr>
      <vt:lpstr>Wingdings 3</vt:lpstr>
      <vt:lpstr>Facet</vt:lpstr>
      <vt:lpstr>Car Market Trend Analysis with Car Dekho Data</vt:lpstr>
      <vt:lpstr>PROBLEM  STATEMENT</vt:lpstr>
      <vt:lpstr>Project Description</vt:lpstr>
      <vt:lpstr>Key Insights &amp; Analytical Findings</vt:lpstr>
      <vt:lpstr>END USERS</vt:lpstr>
      <vt:lpstr>Technology Used</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Manikanta Subbarao B</cp:lastModifiedBy>
  <cp:revision>77</cp:revision>
  <dcterms:created xsi:type="dcterms:W3CDTF">2021-07-11T13:13:15Z</dcterms:created>
  <dcterms:modified xsi:type="dcterms:W3CDTF">2026-08-30T16:51:28Z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